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483" r:id="rId3"/>
    <p:sldId id="484" r:id="rId5"/>
    <p:sldId id="470" r:id="rId6"/>
    <p:sldId id="488" r:id="rId7"/>
    <p:sldId id="478" r:id="rId8"/>
    <p:sldId id="490" r:id="rId9"/>
    <p:sldId id="482" r:id="rId10"/>
    <p:sldId id="486" r:id="rId11"/>
    <p:sldId id="491" r:id="rId12"/>
    <p:sldId id="494" r:id="rId13"/>
    <p:sldId id="485" r:id="rId14"/>
    <p:sldId id="487" r:id="rId15"/>
    <p:sldId id="473" r:id="rId16"/>
    <p:sldId id="468" r:id="rId17"/>
  </p:sldIdLst>
  <p:sldSz cx="12192000" cy="6858000"/>
  <p:notesSz cx="6954520"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showGuides="1">
      <p:cViewPr>
        <p:scale>
          <a:sx n="74" d="100"/>
          <a:sy n="74" d="100"/>
        </p:scale>
        <p:origin x="696" y="-174"/>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lstStyle>
            <a:lvl1pPr algn="r" eaLnBrk="1" hangingPunct="1">
              <a:defRPr sz="1200"/>
            </a:lvl1pPr>
          </a:lstStyle>
          <a:p>
            <a:pPr>
              <a:defRPr/>
            </a:pPr>
            <a:fld id="{36A1ABE2-8A9C-4371-A477-2D85B6949ADB}"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B984284-C742-4CDE-BCD1-55F1EACCE4BD}"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AC8F4A-8BCF-4389-A68F-ABDBB8A38460}" type="slidenum">
              <a:rPr lang="en-US" altLang="en-US"/>
            </a:fld>
            <a:endParaRPr lang="en-US" altLang="en-US"/>
          </a:p>
        </p:txBody>
      </p:sp>
    </p:spTree>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8400D6F-81A6-4CA0-8B3C-34372C62B661}"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5EC703-C051-410C-8BA1-62752E291E83}" type="slidenum">
              <a:rPr lang="en-US" altLang="en-US"/>
            </a:fld>
            <a:endParaRPr lang="en-US" altLang="en-US"/>
          </a:p>
        </p:txBody>
      </p:sp>
    </p:spTree>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B63234D9-D072-4920-821D-BED01FCB7247}"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9A17B78-0E85-43B3-B804-1DD2F629C182}" type="slidenum">
              <a:rPr lang="en-US" altLang="en-US"/>
            </a:fld>
            <a:endParaRPr lang="en-US" altLang="en-US"/>
          </a:p>
        </p:txBody>
      </p:sp>
    </p:spTree>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74A9FD15-50EB-4E55-A7AC-5D569B5B3C80}" type="datetime1">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10EC4D6-2A5D-45C1-86E3-8BE19A62D209}" type="slidenum">
              <a:rPr lang="en-US" altLang="en-US"/>
            </a:fld>
            <a:endParaRPr lang="en-US" altLang="en-US"/>
          </a:p>
        </p:txBody>
      </p:sp>
    </p:spTree>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C50B61E-D197-4188-943F-30B5936FC2F9}" type="datetime1">
              <a:rPr lang="en-US"/>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7F6C894-F542-45DE-85A4-2725CE924991}" type="slidenum">
              <a:rPr lang="en-US" altLang="en-US"/>
            </a:fld>
            <a:endParaRPr lang="en-US" altLang="en-US"/>
          </a:p>
        </p:txBody>
      </p:sp>
    </p:spTree>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BD41E7F-6671-4D2D-B6AD-20E102447CE3}" type="datetime1">
              <a:rPr lang="en-US"/>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89318FD-4EEC-4C57-A972-0B24B85155E4}" type="slidenum">
              <a:rPr lang="en-US" altLang="en-US"/>
            </a:fld>
            <a:endParaRPr lang="en-US" altLang="en-US"/>
          </a:p>
        </p:txBody>
      </p:sp>
    </p:spTree>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AE11748-68B0-424D-A128-8EE4A2F1567E}" type="datetime1">
              <a:rPr lang="en-US"/>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F195F4C-44D2-4F45-A0AC-21646A9D27BF}" type="slidenum">
              <a:rPr lang="en-US" altLang="en-US"/>
            </a:fld>
            <a:endParaRPr lang="en-US" altLang="en-US"/>
          </a:p>
        </p:txBody>
      </p:sp>
    </p:spTree>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7094E8B7-7DCF-4AE2-ACBE-26DA6EBB7347}" type="datetime1">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CD429D7-E526-4101-969E-B40B8D8E48CC}" type="slidenum">
              <a:rPr lang="en-US" altLang="en-US"/>
            </a:fld>
            <a:endParaRPr lang="en-US" altLang="en-US"/>
          </a:p>
        </p:txBody>
      </p:sp>
    </p:spTree>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A58AEAC7-C2C3-44AF-AB2E-36A1774D5378}" type="datetime1">
              <a:rPr lang="en-US"/>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66FD7F1-16F9-4E12-83AD-C4245146BA57}" type="slidenum">
              <a:rPr lang="en-US" altLang="en-US"/>
            </a:fld>
            <a:endParaRPr lang="en-US" altLang="en-US"/>
          </a:p>
        </p:txBody>
      </p:sp>
    </p:spTree>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702336F-006F-49C3-8FF0-2416E12056BA}"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3CA2AFE-CAB8-4467-80DC-C3A4FC1E2718}" type="slidenum">
              <a:rPr lang="en-US" altLang="en-US"/>
            </a:fld>
            <a:endParaRPr lang="en-US" altLang="en-US"/>
          </a:p>
        </p:txBody>
      </p:sp>
    </p:spTree>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C683BFA-96BB-4329-BF2F-32F59AFA4E79}" type="datetime1">
              <a:rPr lang="en-US"/>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DD8426-6957-4B5B-B927-2BE994D1B7C1}" type="slidenum">
              <a:rPr lang="en-US" altLang="en-US"/>
            </a:fld>
            <a:endParaRPr lang="en-US" altLang="en-US"/>
          </a:p>
        </p:txBody>
      </p:sp>
    </p:spTree>
  </p:cSld>
  <p:clrMapOvr>
    <a:masterClrMapping/>
  </p:clrMapOvr>
  <p:transition spd="slow">
    <p:blinds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246687D5-4D00-474F-82B8-FCFBD98170F5}" type="datetime1">
              <a:rPr lang="en-US"/>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DBF7CE3-29D9-4203-A481-45960E76618F}" type="slidenum">
              <a:rPr lang="en-US" altLang="en-US"/>
            </a:fld>
            <a:endParaRPr lang="en-US" altLang="en-US"/>
          </a:p>
        </p:txBody>
      </p:sp>
    </p:spTree>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a:defRPr/>
            </a:pPr>
            <a:fld id="{ADBF7CE3-29D9-4203-A481-45960E76618F}" type="slidenum">
              <a:rPr lang="en-US" altLang="en-US"/>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81884" y="2109718"/>
            <a:ext cx="5514300" cy="2020560"/>
          </a:xfrm>
          <a:prstGeom prst="rect">
            <a:avLst/>
          </a:prstGeom>
          <a:noFill/>
          <a:ln>
            <a:noFill/>
          </a:ln>
        </p:spPr>
        <p:txBody>
          <a:bodyPr spcFirstLastPara="1" wrap="square" lIns="91425" tIns="45700" rIns="91425" bIns="45700" anchor="t" anchorCtr="0">
            <a:normAutofit fontScale="90000"/>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a:t>
            </a:r>
            <a:r>
              <a:rPr lang="en-GB" sz="2000" b="1" i="0" u="none" strike="noStrike" cap="none" dirty="0">
                <a:solidFill>
                  <a:schemeClr val="accent2"/>
                </a:solidFill>
                <a:latin typeface="Cambria" panose="02040503050406030204" pitchFamily="18" charset="0"/>
                <a:ea typeface="Cambria" panose="02040503050406030204" pitchFamily="18" charset="0"/>
                <a:cs typeface="Verdana" panose="020B0604030504040204"/>
                <a:sym typeface="Verdana" panose="020B0604030504040204"/>
              </a:rPr>
              <a:t>Supervision</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Ms.</a:t>
            </a: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Tracita H (Assistant Professor/ Guide) </a:t>
            </a:r>
            <a:endPar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 Sivaramakrishnan S (Professor / Examiner 2)</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86072" y="4088074"/>
            <a:ext cx="1200987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B. Tech (CSE)</a:t>
            </a:r>
            <a:endParaRPr lang="en-US" sz="2000" b="1" dirty="0">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Dr.</a:t>
            </a:r>
            <a:r>
              <a:rPr lang="en-US" sz="20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err="1">
                <a:latin typeface="Cambria" panose="02040503050406030204" pitchFamily="18" charset="0"/>
                <a:ea typeface="Cambria" panose="02040503050406030204" pitchFamily="18" charset="0"/>
                <a:cs typeface="Verdana" panose="020B0604030504040204"/>
                <a:sym typeface="Verdana" panose="020B0604030504040204"/>
              </a:rPr>
              <a:t>Nagaraja</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S R</a:t>
            </a:r>
            <a:endParaRPr lang="en-US" sz="2000" b="1" dirty="0">
              <a:latin typeface="Cambria" panose="02040503050406030204" pitchFamily="18" charset="0"/>
              <a:ea typeface="Cambria" panose="02040503050406030204" pitchFamily="18" charset="0"/>
              <a:cs typeface="Verdana" panose="020B0604030504040204"/>
              <a:sym typeface="Verdana" panose="020B0604030504040204"/>
            </a:endParaRPr>
          </a:p>
          <a:p>
            <a:pPr lvl="0">
              <a:spcBef>
                <a:spcPts val="0"/>
              </a:spcBef>
              <a:spcAft>
                <a:spcPts val="0"/>
              </a:spcAft>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Ms. </a:t>
            </a:r>
            <a:r>
              <a:rPr lang="en-US" sz="2000" b="1" dirty="0" err="1">
                <a:latin typeface="Cambria" panose="02040503050406030204" pitchFamily="18" charset="0"/>
                <a:ea typeface="Cambria" panose="02040503050406030204" pitchFamily="18" charset="0"/>
                <a:cs typeface="Verdana" panose="020B0604030504040204"/>
                <a:sym typeface="Verdana" panose="020B0604030504040204"/>
              </a:rPr>
              <a:t>Vidhya</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err="1">
                <a:latin typeface="Cambria" panose="02040503050406030204" pitchFamily="18" charset="0"/>
                <a:ea typeface="Cambria" panose="02040503050406030204" pitchFamily="18" charset="0"/>
                <a:cs typeface="Verdana" panose="020B0604030504040204"/>
                <a:sym typeface="Verdana" panose="020B0604030504040204"/>
              </a:rPr>
              <a:t>Rengasamy</a:t>
            </a:r>
            <a:endParaRPr lang="en-US" sz="2000" b="1" dirty="0">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 Coordinators: </a:t>
            </a:r>
            <a:r>
              <a:rPr lang="en-US" sz="2000" b="1" dirty="0" smtClean="0">
                <a:latin typeface="Cambria" panose="02040503050406030204" pitchFamily="18" charset="0"/>
                <a:ea typeface="Cambria" panose="02040503050406030204" pitchFamily="18" charset="0"/>
                <a:cs typeface="Verdana" panose="020B0604030504040204"/>
                <a:sym typeface="Verdana" panose="020B0604030504040204"/>
              </a:rPr>
              <a:t>Dr. Bhuvaneshwari Patil</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810"/>
            <a:ext cx="10515600" cy="185801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CSE7000 - INTERNSHIP</a:t>
            </a:r>
            <a:br>
              <a:rPr lang="en-IN" dirty="0">
                <a:solidFill>
                  <a:srgbClr val="FF0000"/>
                </a:solidFill>
                <a:latin typeface="Times New Roman" panose="02020603050405020304" pitchFamily="18" charset="0"/>
                <a:cs typeface="Times New Roman" panose="02020603050405020304" pitchFamily="18" charset="0"/>
              </a:rPr>
            </a:br>
            <a:r>
              <a:rPr lang="en-IN" dirty="0">
                <a:solidFill>
                  <a:srgbClr val="FF0000"/>
                </a:solidFill>
                <a:latin typeface="Times New Roman" panose="02020603050405020304" pitchFamily="18" charset="0"/>
                <a:cs typeface="Times New Roman" panose="02020603050405020304" pitchFamily="18" charset="0"/>
              </a:rPr>
              <a:t>A Presentation on</a:t>
            </a: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NVIDIA INTERNSHIP</a:t>
            </a:r>
            <a:endPar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algn="ct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AI RESUME ANALYZER and CAREER ASSISTANT</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4884491" cy="1463040"/>
        </p:xfrm>
        <a:graphic>
          <a:graphicData uri="http://schemas.openxmlformats.org/drawingml/2006/table">
            <a:tbl>
              <a:tblPr firstRow="1" bandRow="1">
                <a:tableStyleId>{5C22544A-7EE6-4342-B048-85BDC9FD1C3A}</a:tableStyleId>
              </a:tblPr>
              <a:tblGrid>
                <a:gridCol w="1371270"/>
                <a:gridCol w="3513221"/>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ARSH US SABA</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20241CSE0662</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5CSE09</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78759" y="762138"/>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endParaRPr lang="en-US" sz="2000" b="1" dirty="0">
              <a:solidFill>
                <a:srgbClr val="0070C0"/>
              </a:solidFill>
              <a:latin typeface="Times New Roman" panose="02020603050405020304" pitchFamily="18" charset="0"/>
              <a:cs typeface="Times New Roman" panose="020206030504050203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50000"/>
              </a:lnSpc>
              <a:spcBef>
                <a:spcPts val="0"/>
              </a:spcBef>
              <a:buFont typeface="Wingdings" panose="05000000000000000000" pitchFamily="2" charset="2"/>
              <a:buChar char="Ø"/>
            </a:pPr>
            <a:r>
              <a:rPr lang="en-IN" sz="2000" b="1">
                <a:solidFill>
                  <a:schemeClr val="accent1">
                    <a:lumMod val="75000"/>
                  </a:schemeClr>
                </a:solidFill>
                <a:latin typeface="Times New Roman" panose="02020603050405020304" pitchFamily="18" charset="0"/>
                <a:cs typeface="Times New Roman" panose="02020603050405020304" pitchFamily="18" charset="0"/>
              </a:rPr>
              <a:t>Methodology Used / Course Description</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Results (Optional)</a:t>
            </a:r>
            <a:endParaRPr lang="en-IN"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Cambria" panose="02040503050406030204" pitchFamily="18" charset="0"/>
                <a:ea typeface="Cambria" panose="02040503050406030204" pitchFamily="18" charset="0"/>
                <a:cs typeface="Times New Roman" panose="02020603050405020304" pitchFamily="18" charset="0"/>
              </a:rPr>
              <a:t>Conclusion</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Organization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lstStyle/>
          <a:p>
            <a:pPr marL="0" indent="0">
              <a:buNone/>
            </a:pPr>
            <a:r>
              <a:rPr lang="en-US" altLang="en-US" dirty="0">
                <a:latin typeface="Times New Roman" panose="02020603050405020304" pitchFamily="18" charset="0"/>
                <a:cs typeface="Times New Roman" panose="02020603050405020304" pitchFamily="18" charset="0"/>
              </a:rPr>
              <a:t>AI Centre of Excellence (Accelerated by NVIDIA)</a:t>
            </a:r>
            <a:endParaRPr lang="en-US" altLang="en-US"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rPr>
              <a:t>The AI Centre of Excellence (AI CoE) at Presidency University is an advanced learning and research facility established in collaboration with NVIDIA to provide students with practical experience in Artificial Intelligence, Deep Learning, Generative AI, and GPU Computing. The internship program offers hands-on exposure to modern AI technologies through lectures, guided coding workshops, GPU laboratory sessions, and mentored capstone projects. Students gain experience working on enterprise-level AI workflows using NVIDIA's accelerated computing platform and industry-standard development tools.</a:t>
            </a:r>
            <a:endParaRPr lang="en-US" altLang="en-US" sz="1800" dirty="0">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rPr>
              <a:t>Key Areas:</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rPr>
              <a:t>Artificial Intelligence (AI)                                               Machine Learning (ML)                                 </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rPr>
              <a:t>Deep Learning                                                                  Natural Language Processing (NLP) </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rPr>
              <a:t>Generative AI                                                                   GPU Programming and Optimization</a:t>
            </a:r>
            <a:endParaRPr lang="en-US" alt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838200" y="144145"/>
            <a:ext cx="7429500" cy="805815"/>
          </a:xfrm>
        </p:spPr>
        <p:txBody>
          <a:bodyPr/>
          <a:p>
            <a:r>
              <a:rPr lang="en-US" altLang="en-US" sz="2800">
                <a:latin typeface="Times New Roman" panose="02020603050405020304" pitchFamily="18" charset="0"/>
                <a:cs typeface="Times New Roman" panose="02020603050405020304" pitchFamily="18" charset="0"/>
                <a:sym typeface="+mn-ea"/>
              </a:rPr>
              <a:t>NVIDIA – Technology Partner</a:t>
            </a:r>
            <a:endParaRPr lang="en-US" sz="280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838200" y="841375"/>
            <a:ext cx="10515600" cy="5335905"/>
          </a:xfrm>
        </p:spPr>
        <p:txBody>
          <a:bodyPr/>
          <a:p>
            <a:pPr marL="0" indent="0">
              <a:buNone/>
            </a:pPr>
            <a:r>
              <a:rPr lang="en-US" altLang="en-US" sz="1800">
                <a:latin typeface="Times New Roman" panose="02020603050405020304" pitchFamily="18" charset="0"/>
                <a:cs typeface="Times New Roman" panose="02020603050405020304" pitchFamily="18" charset="0"/>
              </a:rPr>
              <a:t>NVIDIA's Role in the Internship</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NVIDIA is a global technology company recognized for its leadership in GPU computing, Artificial Intelligence, and accelerated computing platforms. Through the AI Centre of Excellence, NVIDIA provides access to advanced GPU infrastructure that enables students to develop and execute high-performance AI applications.</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Clients and Industries</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NVIDIA technologies are widely used across: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Healthcare                             </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Autonomous Vehicles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Robotics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Cloud Computing</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Finance</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Manufacturing</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Scientific Research</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Generative AI Applications</a:t>
            </a:r>
            <a:endParaRPr lang="en-US" altLang="en-US" sz="18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a:defRPr/>
            </a:pPr>
            <a:fld id="{ADBF7CE3-29D9-4203-A481-45960E76618F}" type="slidenum">
              <a:rPr lang="en-US" altLang="en-US"/>
            </a:fld>
            <a:endParaRPr lang="en-US" altLang="en-US"/>
          </a:p>
        </p:txBody>
      </p:sp>
    </p:spTree>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algn="just"/>
            <a:r>
              <a:rPr lang="en-US" altLang="en-US" dirty="0">
                <a:latin typeface="Times New Roman" panose="02020603050405020304" pitchFamily="18" charset="0"/>
                <a:cs typeface="Times New Roman" panose="02020603050405020304" pitchFamily="18" charset="0"/>
              </a:rPr>
              <a:t>Domain: Natural Language Processing (NLP) &amp; Generative AI</a:t>
            </a:r>
            <a:endParaRPr lang="en-US" altLang="en-US" dirty="0">
              <a:latin typeface="Times New Roman" panose="02020603050405020304" pitchFamily="18" charset="0"/>
              <a:cs typeface="Times New Roman" panose="02020603050405020304" pitchFamily="18" charset="0"/>
            </a:endParaRPr>
          </a:p>
          <a:p>
            <a:pPr algn="just"/>
            <a:endParaRPr lang="en-US" altLang="en-US"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During the internship, I worked in the NLP and Generative AI domain by developing an AI Resume Analyzer and Career Assistant. The project uses transformer-based language models to compare resumes with job descriptions, calculate a semantic match score, identify missing skills, and generate AI-powered recommendations and interview questions. It was developed using Python, PyTorch, Hugging Face Transformers, Sentence Transformers, and Streamlit, with GPU acceleration for efficient AI model inference. </a:t>
            </a:r>
            <a:endParaRPr lang="en-US" altLang="en-US" sz="2400" dirty="0">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838200" y="133350"/>
            <a:ext cx="6412865" cy="1039495"/>
          </a:xfrm>
        </p:spPr>
        <p:txBody>
          <a:bodyPr/>
          <a:p>
            <a:r>
              <a:rPr lang="en-US" altLang="en-US" sz="2800">
                <a:latin typeface="Times New Roman" panose="02020603050405020304" pitchFamily="18" charset="0"/>
                <a:cs typeface="Times New Roman" panose="02020603050405020304" pitchFamily="18" charset="0"/>
              </a:rPr>
              <a:t>Features &amp; Importance of the Technology</a:t>
            </a:r>
            <a:endParaRPr lang="en-US" altLang="en-US" sz="2800">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idx="1"/>
          </p:nvPr>
        </p:nvSpPr>
        <p:spPr>
          <a:xfrm>
            <a:off x="838200" y="1007110"/>
            <a:ext cx="10515600" cy="4351338"/>
          </a:xfrm>
        </p:spPr>
        <p:txBody>
          <a:bodyPr/>
          <a:p>
            <a:pPr marL="0" indent="0">
              <a:buNone/>
            </a:pPr>
            <a:r>
              <a:rPr lang="en-US" altLang="en-US" sz="2000"/>
              <a:t>Key Features:</a:t>
            </a:r>
            <a:endParaRPr lang="en-US" altLang="en-US" sz="2000"/>
          </a:p>
          <a:p>
            <a:r>
              <a:rPr lang="en-US" altLang="en-US" sz="2000"/>
              <a:t>Semantic resume and job description matching using transformer models.</a:t>
            </a:r>
            <a:endParaRPr lang="en-US" altLang="en-US" sz="2000"/>
          </a:p>
          <a:p>
            <a:r>
              <a:rPr lang="en-US" altLang="en-US" sz="2000"/>
              <a:t>Automatic skill extraction and missing skill identification.</a:t>
            </a:r>
            <a:endParaRPr lang="en-US" altLang="en-US" sz="2000"/>
          </a:p>
          <a:p>
            <a:r>
              <a:rPr lang="en-US" altLang="en-US" sz="2000"/>
              <a:t>AI-generated resume improvement suggestions.</a:t>
            </a:r>
            <a:endParaRPr lang="en-US" altLang="en-US" sz="2000"/>
          </a:p>
          <a:p>
            <a:r>
              <a:rPr lang="en-US" altLang="en-US" sz="2000"/>
              <a:t>Interview question generation based on the target job role.</a:t>
            </a:r>
            <a:endParaRPr lang="en-US" altLang="en-US" sz="2000"/>
          </a:p>
          <a:p>
            <a:r>
              <a:rPr lang="en-US" altLang="en-US" sz="2000"/>
              <a:t>GPU-accelerated inference for faster processing.</a:t>
            </a:r>
            <a:endParaRPr lang="en-US" altLang="en-US" sz="2000"/>
          </a:p>
          <a:p>
            <a:pPr marL="0" indent="0">
              <a:buNone/>
            </a:pPr>
            <a:r>
              <a:rPr lang="en-US" altLang="en-US" sz="2000"/>
              <a:t>Importance:</a:t>
            </a:r>
            <a:endParaRPr lang="en-US" altLang="en-US" sz="2000"/>
          </a:p>
          <a:p>
            <a:r>
              <a:rPr lang="en-US" altLang="en-US" sz="2000"/>
              <a:t>Automates and speeds up the recruitment screening process.</a:t>
            </a:r>
            <a:endParaRPr lang="en-US" altLang="en-US" sz="2000"/>
          </a:p>
          <a:p>
            <a:r>
              <a:rPr lang="en-US" altLang="en-US" sz="2000"/>
              <a:t>Provides accurate, context-aware resume analysis.</a:t>
            </a:r>
            <a:endParaRPr lang="en-US" altLang="en-US" sz="2000"/>
          </a:p>
          <a:p>
            <a:r>
              <a:rPr lang="en-US" altLang="en-US" sz="2000"/>
              <a:t>Helps candidates improve their resumes and interview preparation.</a:t>
            </a:r>
            <a:endParaRPr lang="en-US" altLang="en-US" sz="2000"/>
          </a:p>
          <a:p>
            <a:r>
              <a:rPr lang="en-US" altLang="en-US" sz="2000"/>
              <a:t>Demonstrates the practical application of NLP, Generative AI, and GPU computing in solving real-world problems.</a:t>
            </a:r>
            <a:endParaRPr lang="en-US" altLang="en-US" sz="2000"/>
          </a:p>
        </p:txBody>
      </p:sp>
      <p:sp>
        <p:nvSpPr>
          <p:cNvPr id="4" name="Slide Number Placeholder 3"/>
          <p:cNvSpPr>
            <a:spLocks noGrp="1"/>
          </p:cNvSpPr>
          <p:nvPr>
            <p:ph type="sldNum" sz="quarter" idx="12"/>
          </p:nvPr>
        </p:nvSpPr>
        <p:spPr/>
        <p:txBody>
          <a:bodyPr/>
          <a:p>
            <a:pPr>
              <a:defRPr/>
            </a:pPr>
            <a:fld id="{ADBF7CE3-29D9-4203-A481-45960E76618F}" type="slidenum">
              <a:rPr lang="en-US" altLang="en-US"/>
            </a:fld>
            <a:endParaRPr lang="en-US" altLang="en-US"/>
          </a:p>
        </p:txBody>
      </p:sp>
    </p:spTree>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algn="just"/>
            <a:r>
              <a:rPr lang="en-US" altLang="en-US" dirty="0">
                <a:latin typeface="Times New Roman" panose="02020603050405020304" pitchFamily="18" charset="0"/>
                <a:cs typeface="Times New Roman" panose="02020603050405020304" pitchFamily="18" charset="0"/>
              </a:rPr>
              <a:t>Develop an AI-powered Resume Analyzer that automatically compares resumes with job descriptions using Natural Language Processing (NLP) and Generative AI.</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Calculate a semantic compatibility score and identify matching and missing skills.</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Generate AI-based resume improvement suggestions and personalized interview questions.</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Reduce the time and effort involved in manual resume screening.</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Demonstrate the practical use of transformer models and GPU-accelerated AI to solve real-world recruitment challenges.</a:t>
            </a:r>
            <a:endParaRPr lang="en-US" alt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330"/>
            <a:ext cx="9686925" cy="862330"/>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Methodology Used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08990"/>
            <a:ext cx="10515600" cy="4433570"/>
          </a:xfrm>
        </p:spPr>
        <p:txBody>
          <a:bodyPr/>
          <a:lstStyle/>
          <a:p>
            <a:pPr marL="0" indent="0" algn="just">
              <a:buNone/>
            </a:pPr>
            <a:r>
              <a:rPr lang="en-US" altLang="en-US" dirty="0">
                <a:latin typeface="Times New Roman" panose="02020603050405020304" pitchFamily="18" charset="0"/>
                <a:cs typeface="Times New Roman" panose="02020603050405020304" pitchFamily="18" charset="0"/>
              </a:rPr>
              <a:t>Methodology Used:</a:t>
            </a:r>
            <a:endParaRPr lang="en-US" altLang="en-US" dirty="0">
              <a:latin typeface="Times New Roman" panose="02020603050405020304" pitchFamily="18" charset="0"/>
              <a:cs typeface="Times New Roman" panose="02020603050405020304" pitchFamily="18" charset="0"/>
            </a:endParaRPr>
          </a:p>
          <a:p>
            <a:pPr marL="0" indent="0" algn="just">
              <a:buNone/>
            </a:pPr>
            <a:r>
              <a:rPr lang="en-US" altLang="en-US" sz="2000" dirty="0">
                <a:latin typeface="Times New Roman" panose="02020603050405020304" pitchFamily="18" charset="0"/>
                <a:cs typeface="Times New Roman" panose="02020603050405020304" pitchFamily="18" charset="0"/>
              </a:rPr>
              <a:t>Workflow of the Proposed System:</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Resume Upload – User uploads the resume in PDF format.</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Text Extraction – Resume text is extracted using PDF processing libraries.</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Job Description Input – User enters or uploads the target job description.</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Text Embedding – Both resume and job description are converted into semantic embeddings using Sentence Transformers.</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Similarity Analysis – Cosine Similarity is used to calculate the resume-job compatibility score.</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Skill Analysis – The system identifies matching and missing skills.</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Generative AI Module – Generates resume improvement suggestions and interview questions.</a:t>
            </a:r>
            <a:endParaRPr lang="en-US" altLang="en-US" sz="2000" dirty="0">
              <a:latin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cs typeface="Times New Roman" panose="02020603050405020304" pitchFamily="18" charset="0"/>
              </a:rPr>
              <a:t>Results Display – The analysis is presented through a Streamlit dashboard.</a:t>
            </a:r>
            <a:endParaRPr lang="en-US" alt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5063490" cy="706755"/>
          </a:xfrm>
        </p:spPr>
        <p:txBody>
          <a:bodyPr/>
          <a:p>
            <a:r>
              <a:rPr lang="en-US" altLang="en-US" sz="2800">
                <a:latin typeface="Times New Roman" panose="02020603050405020304" pitchFamily="18" charset="0"/>
                <a:cs typeface="Times New Roman" panose="02020603050405020304" pitchFamily="18" charset="0"/>
                <a:sym typeface="+mn-ea"/>
              </a:rPr>
              <a:t>Technologies &amp; Tools Used</a:t>
            </a:r>
            <a:endParaRPr lang="en-US" sz="28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597535"/>
            <a:ext cx="10515600" cy="5579745"/>
          </a:xfrm>
        </p:spPr>
        <p:txBody>
          <a:bodyPr/>
          <a:p>
            <a:pPr marL="0" indent="0">
              <a:buNone/>
            </a:pPr>
            <a:r>
              <a:rPr lang="en-US" altLang="en-US" sz="1800">
                <a:latin typeface="Times New Roman" panose="02020603050405020304" pitchFamily="18" charset="0"/>
                <a:cs typeface="Times New Roman" panose="02020603050405020304" pitchFamily="18" charset="0"/>
              </a:rPr>
              <a:t>Programming &amp; Frameworks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Python</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Streamlit (User Interface)</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PyTorch</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AI &amp; NLP</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Hugging Face Transformers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Sentence Transformers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Generative AI (FLAN-T5)</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Libraries</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PyPDF (Resume Text Extraction)</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Scikit-learn (Cosine Similarity)</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Hardware</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NVIDIA GPU (CUDA-enabled) for accelerated AI inference.</a:t>
            </a:r>
            <a:endParaRPr lang="en-US" altLang="en-US" sz="180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pPr>
              <a:defRPr/>
            </a:pPr>
            <a:fld id="{815EC703-C051-410C-8BA1-62752E291E83}" type="slidenum">
              <a:rPr lang="en-US" altLang="en-US"/>
            </a:fld>
            <a:endParaRPr lang="en-US" altLang="en-US"/>
          </a:p>
        </p:txBody>
      </p:sp>
    </p:spTree>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7284720" cy="1446530"/>
          </a:xfrm>
        </p:spPr>
        <p:txBody>
          <a:bodyPr/>
          <a:p>
            <a:r>
              <a:rPr lang="en-US" sz="2800">
                <a:latin typeface="Times New Roman" panose="02020603050405020304" pitchFamily="18" charset="0"/>
                <a:cs typeface="Times New Roman" panose="02020603050405020304" pitchFamily="18" charset="0"/>
              </a:rPr>
              <a:t>System Workflow</a:t>
            </a:r>
            <a:endParaRPr lang="en-US" sz="2800">
              <a:latin typeface="Times New Roman" panose="02020603050405020304" pitchFamily="18" charset="0"/>
              <a:cs typeface="Times New Roman" panose="02020603050405020304" pitchFamily="18" charset="0"/>
            </a:endParaRPr>
          </a:p>
        </p:txBody>
      </p:sp>
      <p:graphicFrame>
        <p:nvGraphicFramePr>
          <p:cNvPr id="6" name="Content Placeholder 5"/>
          <p:cNvGraphicFramePr/>
          <p:nvPr>
            <p:ph idx="1"/>
            <p:custDataLst>
              <p:tags r:id="rId1"/>
            </p:custDataLst>
          </p:nvPr>
        </p:nvGraphicFramePr>
        <p:xfrm>
          <a:off x="838200" y="1361440"/>
          <a:ext cx="10738485" cy="3848735"/>
        </p:xfrm>
        <a:graphic>
          <a:graphicData uri="http://schemas.openxmlformats.org/drawingml/2006/table">
            <a:tbl>
              <a:tblPr firstRow="1" bandRow="1">
                <a:tableStyleId>{5C22544A-7EE6-4342-B048-85BDC9FD1C3A}</a:tableStyleId>
              </a:tblPr>
              <a:tblGrid>
                <a:gridCol w="3579495"/>
                <a:gridCol w="3579495"/>
                <a:gridCol w="3579495"/>
              </a:tblGrid>
              <a:tr h="677545">
                <a:tc>
                  <a:txBody>
                    <a:bodyPr/>
                    <a:p>
                      <a:pPr algn="ctr">
                        <a:buNone/>
                      </a:pPr>
                      <a:r>
                        <a:rPr lang="en-US"/>
                        <a:t>Input</a:t>
                      </a:r>
                      <a:endParaRPr lang="en-US"/>
                    </a:p>
                  </a:txBody>
                  <a:tcPr/>
                </a:tc>
                <a:tc>
                  <a:txBody>
                    <a:bodyPr/>
                    <a:p>
                      <a:pPr algn="ctr">
                        <a:buNone/>
                      </a:pPr>
                      <a:r>
                        <a:rPr lang="en-US"/>
                        <a:t>Processing</a:t>
                      </a:r>
                      <a:endParaRPr lang="en-US"/>
                    </a:p>
                  </a:txBody>
                  <a:tcPr/>
                </a:tc>
                <a:tc>
                  <a:txBody>
                    <a:bodyPr/>
                    <a:p>
                      <a:pPr algn="ctr">
                        <a:buNone/>
                      </a:pPr>
                      <a:r>
                        <a:rPr lang="en-US"/>
                        <a:t>Output</a:t>
                      </a:r>
                      <a:endParaRPr lang="en-US"/>
                    </a:p>
                  </a:txBody>
                  <a:tcPr/>
                </a:tc>
              </a:tr>
              <a:tr h="677545">
                <a:tc>
                  <a:txBody>
                    <a:bodyPr/>
                    <a:p>
                      <a:pPr>
                        <a:buNone/>
                      </a:pPr>
                      <a:r>
                        <a:rPr lang="en-US"/>
                        <a:t>Resume PDF</a:t>
                      </a:r>
                      <a:endParaRPr lang="en-US"/>
                    </a:p>
                  </a:txBody>
                  <a:tcPr/>
                </a:tc>
                <a:tc>
                  <a:txBody>
                    <a:bodyPr/>
                    <a:p>
                      <a:pPr>
                        <a:buNone/>
                      </a:pPr>
                      <a:r>
                        <a:rPr lang="en-US"/>
                        <a:t>Text Extraction</a:t>
                      </a:r>
                      <a:endParaRPr lang="en-US"/>
                    </a:p>
                  </a:txBody>
                  <a:tcPr/>
                </a:tc>
                <a:tc>
                  <a:txBody>
                    <a:bodyPr/>
                    <a:p>
                      <a:pPr>
                        <a:buNone/>
                      </a:pPr>
                      <a:r>
                        <a:rPr lang="en-US"/>
                        <a:t>Match Score</a:t>
                      </a:r>
                      <a:endParaRPr lang="en-US"/>
                    </a:p>
                  </a:txBody>
                  <a:tcPr/>
                </a:tc>
              </a:tr>
              <a:tr h="677545">
                <a:tc>
                  <a:txBody>
                    <a:bodyPr/>
                    <a:p>
                      <a:pPr>
                        <a:buNone/>
                      </a:pPr>
                      <a:r>
                        <a:rPr lang="en-US"/>
                        <a:t>Job Description</a:t>
                      </a:r>
                      <a:endParaRPr lang="en-US"/>
                    </a:p>
                  </a:txBody>
                  <a:tcPr/>
                </a:tc>
                <a:tc>
                  <a:txBody>
                    <a:bodyPr/>
                    <a:p>
                      <a:pPr>
                        <a:buNone/>
                      </a:pPr>
                      <a:r>
                        <a:rPr lang="en-US"/>
                        <a:t>NPL and Embedding generations</a:t>
                      </a:r>
                      <a:endParaRPr lang="en-US"/>
                    </a:p>
                  </a:txBody>
                  <a:tcPr/>
                </a:tc>
                <a:tc>
                  <a:txBody>
                    <a:bodyPr/>
                    <a:p>
                      <a:pPr>
                        <a:buNone/>
                      </a:pPr>
                      <a:r>
                        <a:rPr lang="en-US"/>
                        <a:t>Matching Skills</a:t>
                      </a:r>
                      <a:endParaRPr lang="en-US"/>
                    </a:p>
                  </a:txBody>
                  <a:tcPr/>
                </a:tc>
              </a:tr>
              <a:tr h="678180">
                <a:tc>
                  <a:txBody>
                    <a:bodyPr/>
                    <a:p>
                      <a:pPr>
                        <a:buNone/>
                      </a:pPr>
                      <a:endParaRPr lang="en-US"/>
                    </a:p>
                  </a:txBody>
                  <a:tcPr/>
                </a:tc>
                <a:tc>
                  <a:txBody>
                    <a:bodyPr/>
                    <a:p>
                      <a:pPr>
                        <a:buNone/>
                      </a:pPr>
                      <a:r>
                        <a:rPr lang="en-US"/>
                        <a:t>Cosine Similarity</a:t>
                      </a:r>
                      <a:endParaRPr lang="en-US"/>
                    </a:p>
                  </a:txBody>
                  <a:tcPr/>
                </a:tc>
                <a:tc>
                  <a:txBody>
                    <a:bodyPr/>
                    <a:p>
                      <a:pPr>
                        <a:buNone/>
                      </a:pPr>
                      <a:r>
                        <a:rPr lang="en-US"/>
                        <a:t>Missing Skills</a:t>
                      </a:r>
                      <a:endParaRPr lang="en-US"/>
                    </a:p>
                  </a:txBody>
                  <a:tcPr/>
                </a:tc>
              </a:tr>
              <a:tr h="1137920">
                <a:tc>
                  <a:txBody>
                    <a:bodyPr/>
                    <a:p>
                      <a:pPr>
                        <a:buNone/>
                      </a:pPr>
                      <a:endParaRPr lang="en-US"/>
                    </a:p>
                  </a:txBody>
                  <a:tcPr/>
                </a:tc>
                <a:tc>
                  <a:txBody>
                    <a:bodyPr/>
                    <a:p>
                      <a:pPr>
                        <a:buNone/>
                      </a:pPr>
                      <a:r>
                        <a:rPr lang="en-US"/>
                        <a:t>Generative AI</a:t>
                      </a:r>
                      <a:endParaRPr lang="en-US"/>
                    </a:p>
                  </a:txBody>
                  <a:tcPr/>
                </a:tc>
                <a:tc>
                  <a:txBody>
                    <a:bodyPr/>
                    <a:p>
                      <a:pPr>
                        <a:buNone/>
                      </a:pPr>
                      <a:r>
                        <a:rPr lang="en-US"/>
                        <a:t>Resume Suggestions and Interview Questions</a:t>
                      </a:r>
                      <a:endParaRPr lang="en-US"/>
                    </a:p>
                  </a:txBody>
                  <a:tcPr/>
                </a:tc>
              </a:tr>
            </a:tbl>
          </a:graphicData>
        </a:graphic>
      </p:graphicFrame>
      <p:sp>
        <p:nvSpPr>
          <p:cNvPr id="4" name="Slide Number Placeholder 3"/>
          <p:cNvSpPr>
            <a:spLocks noGrp="1"/>
          </p:cNvSpPr>
          <p:nvPr>
            <p:ph type="sldNum" sz="quarter" idx="12"/>
          </p:nvPr>
        </p:nvSpPr>
        <p:spPr/>
        <p:txBody>
          <a:bodyPr/>
          <a:p>
            <a:pPr>
              <a:defRPr/>
            </a:pPr>
            <a:fld id="{815EC703-C051-410C-8BA1-62752E291E83}" type="slidenum">
              <a:rPr lang="en-US" altLang="en-US"/>
            </a:fld>
            <a:endParaRPr lang="en-US" altLang="en-US"/>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100" y="0"/>
            <a:ext cx="5027930" cy="674370"/>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Results </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673100" y="674370"/>
            <a:ext cx="10288905" cy="5102860"/>
          </a:xfrm>
        </p:spPr>
        <p:txBody>
          <a:bodyPr/>
          <a:lstStyle/>
          <a:p>
            <a:pPr marL="0" indent="0">
              <a:buNone/>
            </a:pPr>
            <a:r>
              <a:rPr lang="en-US" altLang="en-US" sz="2000" dirty="0"/>
              <a:t>Project Outcomes</a:t>
            </a:r>
            <a:endParaRPr lang="en-US" altLang="en-US" sz="1800" dirty="0"/>
          </a:p>
          <a:p>
            <a:r>
              <a:rPr lang="en-US" altLang="en-US" sz="1800" dirty="0"/>
              <a:t>Successfully analyzed the uploaded resume against the job description using NLP-based semantic matching.</a:t>
            </a:r>
            <a:endParaRPr lang="en-US" altLang="en-US" sz="1800" dirty="0"/>
          </a:p>
          <a:p>
            <a:r>
              <a:rPr lang="en-US" altLang="en-US" sz="1800" dirty="0"/>
              <a:t>Calculated an accurate Resume Compatibility Score.</a:t>
            </a:r>
            <a:endParaRPr lang="en-US" altLang="en-US" sz="1800" dirty="0"/>
          </a:p>
          <a:p>
            <a:r>
              <a:rPr lang="en-US" altLang="en-US" sz="1800" dirty="0"/>
              <a:t>Identified matching skills and missing skills automatically.</a:t>
            </a:r>
            <a:endParaRPr lang="en-US" altLang="en-US" sz="1800" dirty="0"/>
          </a:p>
          <a:p>
            <a:r>
              <a:rPr lang="en-US" altLang="en-US" sz="1800" dirty="0"/>
              <a:t>Generated AI-powered resume improvement suggestions.</a:t>
            </a:r>
            <a:endParaRPr lang="en-US" altLang="en-US" sz="1800" dirty="0"/>
          </a:p>
          <a:p>
            <a:r>
              <a:rPr lang="en-US" altLang="en-US" sz="1800" dirty="0"/>
              <a:t>Created personalized interview questions based on the job role.</a:t>
            </a:r>
            <a:endParaRPr lang="en-US" altLang="en-US" sz="1800" dirty="0"/>
          </a:p>
          <a:p>
            <a:r>
              <a:rPr lang="en-US" altLang="en-US" sz="1800" dirty="0"/>
              <a:t>Displayed all results through an interactive Streamlit dashboard with GPU-accelerated processing.</a:t>
            </a:r>
            <a:endParaRPr lang="en-US" altLang="en-US" sz="1800" dirty="0"/>
          </a:p>
          <a:p>
            <a:pPr marL="0" indent="0">
              <a:buNone/>
            </a:pPr>
            <a:r>
              <a:rPr lang="en-US" altLang="en-US" sz="2000" dirty="0"/>
              <a:t>Sample Output</a:t>
            </a:r>
            <a:endParaRPr lang="en-US" altLang="en-US" sz="2000" dirty="0"/>
          </a:p>
          <a:p>
            <a:r>
              <a:rPr lang="en-US" altLang="en-US" sz="1800" dirty="0"/>
              <a:t>Resume Match Score: 85%</a:t>
            </a:r>
            <a:endParaRPr lang="en-US" altLang="en-US" sz="1800" dirty="0"/>
          </a:p>
          <a:p>
            <a:r>
              <a:rPr lang="en-US" altLang="en-US" sz="1800" dirty="0"/>
              <a:t>Matching Skills: Python, Machine Learning, TensorFlow</a:t>
            </a:r>
            <a:endParaRPr lang="en-US" altLang="en-US" sz="1800" dirty="0"/>
          </a:p>
          <a:p>
            <a:r>
              <a:rPr lang="en-US" altLang="en-US" sz="1800" dirty="0"/>
              <a:t>Missing Skills: CUDA, Docker, PyTorch</a:t>
            </a:r>
            <a:endParaRPr lang="en-US" altLang="en-US" sz="1800" dirty="0"/>
          </a:p>
          <a:p>
            <a:r>
              <a:rPr lang="en-US" altLang="en-US" sz="1800" dirty="0"/>
              <a:t>AI Suggestions: Improve technical keywords and add relevant project experience.</a:t>
            </a:r>
            <a:endParaRPr lang="en-US" altLang="en-US" sz="1800" dirty="0"/>
          </a:p>
        </p:txBody>
      </p:sp>
    </p:spTree>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Conclusion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altLang="en-US" dirty="0"/>
              <a:t>Successfully developed an AI Resume Analyzer and Career Assistant using Natural Language Processing (NLP) and Generative AI.</a:t>
            </a:r>
            <a:endParaRPr lang="en-US" altLang="en-US" dirty="0"/>
          </a:p>
          <a:p>
            <a:r>
              <a:rPr lang="en-US" altLang="en-US" dirty="0"/>
              <a:t>The system automates resume screening by calculating a semantic match score, identifying skills, and generating intelligent recommendations.</a:t>
            </a:r>
            <a:endParaRPr lang="en-US" altLang="en-US" dirty="0"/>
          </a:p>
          <a:p>
            <a:r>
              <a:rPr lang="en-US" altLang="en-US" dirty="0"/>
              <a:t>It demonstrates the practical application of transformer-based models, GPU-accelerated AI, and Streamlit in solving real-world recruitment challenges.</a:t>
            </a:r>
            <a:endParaRPr lang="en-US" altLang="en-US" dirty="0"/>
          </a:p>
          <a:p>
            <a:r>
              <a:rPr lang="en-US" altLang="en-US" dirty="0"/>
              <a:t>This project highlights how AI can improve recruitment efficiency, reduce manual effort, and assist candidates in enhancing their resumes and interview preparation.</a:t>
            </a:r>
            <a:endParaRPr lang="en-US" altLang="en-US" dirty="0"/>
          </a:p>
        </p:txBody>
      </p:sp>
    </p:spTree>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endParaRPr lang="en-US" sz="6600" dirty="0">
              <a:solidFill>
                <a:schemeClr val="accent2">
                  <a:lumMod val="40000"/>
                  <a:lumOff val="60000"/>
                </a:schemeClr>
              </a:solidFill>
              <a:latin typeface="Times New Roman" panose="02020603050405020304" pitchFamily="18" charset="0"/>
              <a:cs typeface="Times New Roman" panose="02020603050405020304" pitchFamily="18" charset="0"/>
            </a:endParaRP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transition spd="slow">
    <p:blinds dir="vert"/>
  </p:transition>
</p:sld>
</file>

<file path=ppt/tags/tag1.xml><?xml version="1.0" encoding="utf-8"?>
<p:tagLst xmlns:p="http://schemas.openxmlformats.org/presentationml/2006/main">
  <p:tag name="TABLE_ENDDRAG_ORIGIN_RECT" val="845*303"/>
  <p:tag name="TABLE_ENDDRAG_RECT" val="66*107*845*30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6584</Words>
  <Application>WPS Presentation</Application>
  <PresentationFormat>Widescreen</PresentationFormat>
  <Paragraphs>202</Paragraphs>
  <Slides>14</Slides>
  <Notes>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Calibri</vt:lpstr>
      <vt:lpstr>Calibri Light</vt:lpstr>
      <vt:lpstr>Arial</vt:lpstr>
      <vt:lpstr>Cambria</vt:lpstr>
      <vt:lpstr>Verdana</vt:lpstr>
      <vt:lpstr>Times New Roman</vt:lpstr>
      <vt:lpstr>Tahoma</vt:lpstr>
      <vt:lpstr>Microsoft YaHei</vt:lpstr>
      <vt:lpstr>Arial Unicode MS</vt:lpstr>
      <vt:lpstr>Office Theme</vt:lpstr>
      <vt:lpstr>PowerPoint 演示文稿</vt:lpstr>
      <vt:lpstr>Content</vt:lpstr>
      <vt:lpstr>About Company or Organization</vt:lpstr>
      <vt:lpstr>NVIDIA – Technology Partner</vt:lpstr>
      <vt:lpstr>Working domain or the technology</vt:lpstr>
      <vt:lpstr>Features &amp; Importance of the Technology</vt:lpstr>
      <vt:lpstr>Objectives of the work</vt:lpstr>
      <vt:lpstr>Methodology Used / Course Description </vt:lpstr>
      <vt:lpstr>Technologies &amp; Tools Used</vt:lpstr>
      <vt:lpstr>System Workflow</vt:lpstr>
      <vt:lpstr>Results (Optional)</vt:lpstr>
      <vt:lpstr>Conclusion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Arsh us saba</cp:lastModifiedBy>
  <cp:revision>947</cp:revision>
  <cp:lastPrinted>2018-07-24T06:37:00Z</cp:lastPrinted>
  <dcterms:created xsi:type="dcterms:W3CDTF">2018-06-07T04:06:00Z</dcterms:created>
  <dcterms:modified xsi:type="dcterms:W3CDTF">2026-08-08T02:40:52Z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288DD401EA3B4EA69AEEEDB219628FE2_13</vt:lpwstr>
  </property>
</Properties>
</file>